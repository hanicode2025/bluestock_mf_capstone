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Monthly SIP Inflows 2022–2025 (Crore)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Inflows (Crore)</c:v>
                </c:pt>
              </c:strCache>
            </c:strRef>
          </c:tx>
          <c:spPr>
            <a:ln w="25400" cap="flat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Jan'22</c:v>
                </c:pt>
                <c:pt idx="1">
                  <c:v>Jul'22</c:v>
                </c:pt>
                <c:pt idx="2">
                  <c:v>Jan'23</c:v>
                </c:pt>
                <c:pt idx="3">
                  <c:v>Jul'23</c:v>
                </c:pt>
                <c:pt idx="4">
                  <c:v>Jan'24</c:v>
                </c:pt>
                <c:pt idx="5">
                  <c:v>Jul'24</c:v>
                </c:pt>
                <c:pt idx="6">
                  <c:v>Jan'25</c:v>
                </c:pt>
                <c:pt idx="7">
                  <c:v>Jul'25</c:v>
                </c:pt>
                <c:pt idx="8">
                  <c:v>Dec'25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11517</c:v>
                </c:pt>
                <c:pt idx="1">
                  <c:v>12276</c:v>
                </c:pt>
                <c:pt idx="2">
                  <c:v>13856</c:v>
                </c:pt>
                <c:pt idx="3">
                  <c:v>15245</c:v>
                </c:pt>
                <c:pt idx="4">
                  <c:v>19187</c:v>
                </c:pt>
                <c:pt idx="5">
                  <c:v>23547</c:v>
                </c:pt>
                <c:pt idx="6">
                  <c:v>26000</c:v>
                </c:pt>
                <c:pt idx="7">
                  <c:v>28750</c:v>
                </c:pt>
                <c:pt idx="8">
                  <c:v>31002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595-479F-842F-E2C9B1C580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Top States by Transaction Amount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Amount (Cr)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Maharashtra</c:v>
                </c:pt>
                <c:pt idx="1">
                  <c:v>Uttar Pradesh</c:v>
                </c:pt>
                <c:pt idx="2">
                  <c:v>Tamil Nadu</c:v>
                </c:pt>
                <c:pt idx="3">
                  <c:v>Karnataka</c:v>
                </c:pt>
                <c:pt idx="4">
                  <c:v>Telangana</c:v>
                </c:pt>
                <c:pt idx="5">
                  <c:v>Delhi</c:v>
                </c:pt>
                <c:pt idx="6">
                  <c:v>Gujarat</c:v>
                </c:pt>
                <c:pt idx="7">
                  <c:v>Rajasthan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330</c:v>
                </c:pt>
                <c:pt idx="1">
                  <c:v>310</c:v>
                </c:pt>
                <c:pt idx="2">
                  <c:v>305</c:v>
                </c:pt>
                <c:pt idx="3">
                  <c:v>290</c:v>
                </c:pt>
                <c:pt idx="4">
                  <c:v>295</c:v>
                </c:pt>
                <c:pt idx="5">
                  <c:v>285</c:v>
                </c:pt>
                <c:pt idx="6">
                  <c:v>275</c:v>
                </c:pt>
                <c:pt idx="7">
                  <c:v>265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E3-4173-845B-FE7FB3D405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T30 vs B30 Split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City 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06E-4A65-9B61-31F5D79939EE}"/>
              </c:ext>
            </c:extLst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06E-4A65-9B61-31F5D79939E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06E-4A65-9B61-31F5D79939E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06E-4A65-9B61-31F5D79939E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T30 Cities</c:v>
                </c:pt>
                <c:pt idx="1">
                  <c:v>B30 Cities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6E-4A65-9B61-31F5D79939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Top 5 Funds — 3yr CAGR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3yr CAGR (%)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Mirae LargeCap</c:v>
                </c:pt>
                <c:pt idx="1">
                  <c:v>HDFC MidCap</c:v>
                </c:pt>
                <c:pt idx="2">
                  <c:v>Kotak Flexicap</c:v>
                </c:pt>
                <c:pt idx="3">
                  <c:v>ICICI Midcap</c:v>
                </c:pt>
                <c:pt idx="4">
                  <c:v>SBI SmallCap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32.4</c:v>
                </c:pt>
                <c:pt idx="2">
                  <c:v>29.6</c:v>
                </c:pt>
                <c:pt idx="3">
                  <c:v>31.8</c:v>
                </c:pt>
                <c:pt idx="4">
                  <c:v>26.7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EC-41DB-9B7C-4D69223D10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Top 5 Funds — Sharpe Ratio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 Ratio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Mirae LargeCap</c:v>
                </c:pt>
                <c:pt idx="1">
                  <c:v>Kotak Flexicap</c:v>
                </c:pt>
                <c:pt idx="2">
                  <c:v>Mirae TaxSaver</c:v>
                </c:pt>
                <c:pt idx="3">
                  <c:v>ICICI Midcap</c:v>
                </c:pt>
                <c:pt idx="4">
                  <c:v>SBI Bluechip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1.07</c:v>
                </c:pt>
                <c:pt idx="1">
                  <c:v>0.97</c:v>
                </c:pt>
                <c:pt idx="2">
                  <c:v>0.92</c:v>
                </c:pt>
                <c:pt idx="3">
                  <c:v>0.88</c:v>
                </c:pt>
                <c:pt idx="4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B1-4C5B-9365-63A9275AB1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Worst Max Drawdowns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Drawdown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SBI SmallCap Dir</c:v>
                </c:pt>
                <c:pt idx="1">
                  <c:v>Axis SmallCap</c:v>
                </c:pt>
                <c:pt idx="2">
                  <c:v>ABSL SmallCap</c:v>
                </c:pt>
                <c:pt idx="3">
                  <c:v>DSP SmallCap</c:v>
                </c:pt>
                <c:pt idx="4">
                  <c:v>UTI MidCap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-52.6</c:v>
                </c:pt>
                <c:pt idx="1">
                  <c:v>-51.7</c:v>
                </c:pt>
                <c:pt idx="2">
                  <c:v>-35.4</c:v>
                </c:pt>
                <c:pt idx="3">
                  <c:v>-31.2</c:v>
                </c:pt>
                <c:pt idx="4">
                  <c:v>-28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6E-4A5B-888B-A82133DA30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1804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39" y="1371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| Data Analyst Internship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Tadepalli Haneesh  |  Teams ID: 59FMBF  |  June 2026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1C702B-D02E-4415-8F93-9160E61CC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436" y="1924969"/>
            <a:ext cx="2143125" cy="13164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solve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 is fragmented across sources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lack clear risk-return comparisons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of SIP behaviour and cohorts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data-driven fund recommendation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end-to-end ETL pipeline for 40 schemes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CAGR, Sharpe, Beta, VaR, Drawdown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insights via Tableau dashboard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fund recommender by risk appetite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 datasets + live API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07238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fund_master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metadata, risk grades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nav_history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NAV 2022–2026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investor_transactions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benchmark_indices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Nifty 50 &amp; Nifty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scheme_performance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Pre-computed 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+ 5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AUM, SIP, Folios, Holdings, 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mfapi.in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NAV for 5 large cap funds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 → Analyse → Visualise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554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20116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4630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1554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57400" y="20116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ffill, dedup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14630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1554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20116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14630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1554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20116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14630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1554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69480" y="20116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83080" y="21488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21488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57800" y="21488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21488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data_ingestion.py  |  bluestock_mf.db  |  04_performance_analytics.ipynb  |  bluestock_mf_dashboard.twbx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scripts use pathlib.Path — no hardcoded paths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forward-filled over weekends using ffill() after full date reindex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computed with 365.25 calendar days; Sharpe uses 252 trading days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Market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 | 10 fund houses | 2022–2026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64,320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1887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14600" y="1755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1887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26.12 Cr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755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Folios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37960" y="11887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Rs.15L Cr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29400" y="1755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AUM (2024)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65760" y="2331720"/>
          <a:ext cx="84124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Investor Behaviour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demographic breakdown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8872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577840" y="1188720"/>
          <a:ext cx="32004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577840" y="33832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26–35 contributes highest SIP volumes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and Net Banking are top payment modes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— Returns &amp; Risk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| Sharpe Ratio | Sortino Ratio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88720"/>
          <a:ext cx="43891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937760" y="1188720"/>
          <a:ext cx="3840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— Risk &amp; Drawdown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(95%) | Max Drawdown | Fund Scorecard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88720"/>
          <a:ext cx="47548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188720"/>
          <a:ext cx="3474720" cy="1975104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Midcap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Midcap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Mid-Cap Opp.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Flexicap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30352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= 30% 3yr Return + 25% Sharpe + 20% Alpha + 15% Expense(inv) + 10% Drawdown(inv)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— 4 Pages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 and drill-through on all pages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EEF3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2588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Industry Overview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AUM trend, AUM by fund house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EEF3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132588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Fund Performance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plot, scorecard table, NAV vs benchmark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EEF3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0632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Investor Analytics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bar, pie chart, age group, monthly volume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92608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EEF3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30632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SIP &amp; Market Trends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axis SIP vs Nifty50, heatmap, top 5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VaR/CVaR | Cohort Analysis | Recommender | HHI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(95%): Small Cap -2.39%, Large Cap -1.2%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25-35% worse than VaR — fat tail risk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 near-zero VaR (&lt;0.02%)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Sharpe recovers post-2022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Insights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cohort: 4,803 investors, Rs.349 Cr invested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SIP investors flagged as at-risk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recommender maps risk appetite to top funds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most concentrated (HHI: 0.206)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 leads on Sharpe Ratio (1.07) — best risk-adjusted returns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8424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0299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2996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Midcap tops the composite fund scorecard at 100/100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34056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7797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779776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Direct had worst drawdown at -52.6% in Oct 2025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83864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5295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52958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of SIP investors are at-risk with irregular payment intervals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233672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2793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42793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grew 169% from Jan 2022 to Dec 2025 (Rs.11,517 Cr to Rs.31,002 Cr)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Tadepalli Haneesh  |  Data Analyst Intern  |  Bluestock Fintech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github.com/hanicode2025/bluestock_mf_capstone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98591" y="33832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200" dirty="0"/>
          </a:p>
          <a:p>
            <a:pPr marL="342900" indent="-342900" algn="just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200" dirty="0"/>
          </a:p>
          <a:p>
            <a:pPr marL="342900" indent="-342900" algn="just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</a:t>
            </a:r>
            <a:endParaRPr lang="en-US" sz="1200" dirty="0"/>
          </a:p>
          <a:p>
            <a:pPr marL="342900" indent="-342900" algn="just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200" dirty="0"/>
          </a:p>
          <a:p>
            <a:pPr marL="342900" indent="-342900" algn="just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1200" dirty="0"/>
          </a:p>
          <a:p>
            <a:pPr marL="342900" indent="-342900" algn="just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200" dirty="0"/>
          </a:p>
          <a:p>
            <a:pPr marL="342900" indent="-342900" algn="just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721</Words>
  <Application>Microsoft Office PowerPoint</Application>
  <PresentationFormat>On-screen Show (16:9)</PresentationFormat>
  <Paragraphs>163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Capstone</dc:title>
  <dc:subject>PptxGenJS Presentation</dc:subject>
  <dc:creator>PptxGenJS</dc:creator>
  <cp:lastModifiedBy>Haneesh Tadepalli</cp:lastModifiedBy>
  <cp:revision>2</cp:revision>
  <dcterms:created xsi:type="dcterms:W3CDTF">2026-06-11T05:58:42Z</dcterms:created>
  <dcterms:modified xsi:type="dcterms:W3CDTF">2026-06-11T06:14:24Z</dcterms:modified>
</cp:coreProperties>
</file>